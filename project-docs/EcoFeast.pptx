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9469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rshaliAlave/food-distribution-swarm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ecofeast.streamlit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6035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EcoFeast AI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Tower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70332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System for Autonomous Surplus Supply Chains and Zero Waste Value Chains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 ·  Agentic Systems  ·  Sustainability</a:t>
            </a:r>
            <a:endParaRPr lang="en-US" sz="1200" dirty="0"/>
          </a:p>
        </p:txBody>
      </p:sp>
      <p:pic>
        <p:nvPicPr>
          <p:cNvPr id="6" name="Image 0" descr="/mnt/user-data/uploads/Screenshot_2026-07-07_1516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234047"/>
            <a:ext cx="5349240" cy="2389907"/>
          </a:xfrm>
          <a:prstGeom prst="rect">
            <a:avLst/>
          </a:prstGeom>
          <a:effectLst>
            <a:outerShdw blurRad="177800" dist="50800" dir="5400000" algn="bl" rotWithShape="0">
              <a:srgbClr val="000000">
                <a:alpha val="40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 EcoFeast AI Control Tower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760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retail food surplus and bridging the gap with community food security systems has changed little over time. Local businesses must manually identify excess inventory, contact non-profit networks one by one, and sort through unpredictable dispatch mechanics — a process that is time-consuming, uneven in logistical quality, and impossible to scale.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5760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concept note proposes EcoFeast — an agentic multi-agent swarm system that independently captures localized retail surplus, negotiates real-time logistical handoffs, and dynamically routes field courier fleets, while automating verifiable compliance reporting.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5349240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141A21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5513832"/>
            <a:ext cx="384048" cy="384048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72" y="5606004"/>
            <a:ext cx="199705" cy="19970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59710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logged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85800" y="62453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registers excess inventory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331720" y="57607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CC71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651760" y="5349240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141A21"/>
          </a:solidFill>
          <a:ln/>
        </p:spPr>
      </p:sp>
      <p:sp>
        <p:nvSpPr>
          <p:cNvPr id="13" name="Shape 10"/>
          <p:cNvSpPr/>
          <p:nvPr/>
        </p:nvSpPr>
        <p:spPr>
          <a:xfrm>
            <a:off x="2788920" y="5513832"/>
            <a:ext cx="384048" cy="384048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1092" y="5606004"/>
            <a:ext cx="199705" cy="19970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88920" y="59710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matches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2788920" y="62453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negotiate routing in real time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434840" y="57607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CC71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754880" y="5349240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141A21"/>
          </a:solidFill>
          <a:ln/>
        </p:spPr>
      </p:sp>
      <p:sp>
        <p:nvSpPr>
          <p:cNvPr id="19" name="Shape 15"/>
          <p:cNvSpPr/>
          <p:nvPr/>
        </p:nvSpPr>
        <p:spPr>
          <a:xfrm>
            <a:off x="4892040" y="5513832"/>
            <a:ext cx="384048" cy="384048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4212" y="5606004"/>
            <a:ext cx="199705" cy="19970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92040" y="59710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reported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892040" y="62453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+ delivery data compiled live</a:t>
            </a:r>
            <a:endParaRPr lang="en-US" sz="850" dirty="0"/>
          </a:p>
        </p:txBody>
      </p:sp>
      <p:pic>
        <p:nvPicPr>
          <p:cNvPr id="23" name="Image 3" descr="/mnt/user-data/uploads/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1600200"/>
            <a:ext cx="5120640" cy="2264283"/>
          </a:xfrm>
          <a:prstGeom prst="rect">
            <a:avLst/>
          </a:prstGeom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24" name="Text 18"/>
          <p:cNvSpPr/>
          <p:nvPr/>
        </p:nvSpPr>
        <p:spPr>
          <a:xfrm>
            <a:off x="6537960" y="3955923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restaurant surplus dashboard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Existing Approaches Fall Short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41A2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208666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4767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Labor-intensive matching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supply-chain pairing between retail centers and shelters depends heavily on staff bandwidth and arbitrary schedules.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41A21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965960"/>
            <a:ext cx="502920" cy="50292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941" y="208666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94767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demand forecasts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92240" y="256032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systems lack live environmental context, failing to predict localized demand shifts such as sudden weather disruptions.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41A21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251960"/>
            <a:ext cx="502920" cy="50292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61" y="437266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23367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micro-management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484632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setups require administrators to issue every pickup and verify every route manually, with no end-to-end delegation.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977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41A21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251960"/>
            <a:ext cx="502920" cy="50292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2941" y="437266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23367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widening resource gap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92240" y="484632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operational waste across metro centers grows, coordination lag causes perishable assets to expire before reaching non-profits.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Control Tower Should Achieve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ECC7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6459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a commercial user to register localized food surplus and let a multi-agent swarm calculate redistribution paths with minimal human planning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34440" y="2478024"/>
            <a:ext cx="10332720" cy="0"/>
          </a:xfrm>
          <a:prstGeom prst="line">
            <a:avLst/>
          </a:prstGeom>
          <a:noFill/>
          <a:ln w="12700">
            <a:solidFill>
              <a:srgbClr val="2731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58775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542032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 independent agent nodes with stateful planning and cross-organization negotiation via LangGraph execution loops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34440" y="3374136"/>
            <a:ext cx="10332720" cy="0"/>
          </a:xfrm>
          <a:prstGeom prst="line">
            <a:avLst/>
          </a:prstGeom>
          <a:noFill/>
          <a:ln w="12700">
            <a:solidFill>
              <a:srgbClr val="2731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48386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ECC7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438144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every active contract in live logistical metadata — distance matrices, ETA predictions, and coordinate mapping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234440" y="4270248"/>
            <a:ext cx="10332720" cy="0"/>
          </a:xfrm>
          <a:prstGeom prst="line">
            <a:avLst/>
          </a:prstGeom>
          <a:noFill/>
          <a:ln w="12700">
            <a:solidFill>
              <a:srgbClr val="2731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37997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ECC7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79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43342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transparency by tracking live transit courier ledgers and warehouse intake schedules on a shared dashboard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234440" y="5166360"/>
            <a:ext cx="10332720" cy="0"/>
          </a:xfrm>
          <a:prstGeom prst="line">
            <a:avLst/>
          </a:prstGeom>
          <a:noFill/>
          <a:ln w="12700">
            <a:solidFill>
              <a:srgbClr val="2731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2760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ECC7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276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523036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verifiable ESG validation metrics — carbon aversion data and tax write-off estimates — alongside operational activity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Plan → Act → Observe Swarm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language model acts as the reasoning engine within a LangGraph state machine. At each transaction trigger, the swarm evaluates available surplus volumes, determines optimal destination capacity, and negotiates delivery parameters programmatically — updating its global state until an active inbound contract is compiled.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2057400" cy="1920240"/>
          </a:xfrm>
          <a:prstGeom prst="roundRect">
            <a:avLst>
              <a:gd name="adj" fmla="val 3810"/>
            </a:avLst>
          </a:prstGeom>
          <a:solidFill>
            <a:srgbClr val="141A21"/>
          </a:solidFill>
          <a:ln/>
        </p:spPr>
      </p:sp>
      <p:sp>
        <p:nvSpPr>
          <p:cNvPr id="6" name="Shape 4"/>
          <p:cNvSpPr/>
          <p:nvPr/>
        </p:nvSpPr>
        <p:spPr>
          <a:xfrm>
            <a:off x="1325880" y="3108960"/>
            <a:ext cx="502920" cy="50292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581" y="322966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749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4050792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logs surplus inventory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606040" y="3566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C71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788920" y="2880360"/>
            <a:ext cx="2057400" cy="1920240"/>
          </a:xfrm>
          <a:prstGeom prst="roundRect">
            <a:avLst>
              <a:gd name="adj" fmla="val 3810"/>
            </a:avLst>
          </a:prstGeom>
          <a:solidFill>
            <a:srgbClr val="141A21"/>
          </a:solidFill>
          <a:ln/>
        </p:spPr>
      </p:sp>
      <p:sp>
        <p:nvSpPr>
          <p:cNvPr id="12" name="Shape 9"/>
          <p:cNvSpPr/>
          <p:nvPr/>
        </p:nvSpPr>
        <p:spPr>
          <a:xfrm>
            <a:off x="3566160" y="3108960"/>
            <a:ext cx="502920" cy="50292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861" y="322966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26080" y="3749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926080" y="4050792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identifies destination capacity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846320" y="3566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C71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029200" y="2880360"/>
            <a:ext cx="2057400" cy="1920240"/>
          </a:xfrm>
          <a:prstGeom prst="roundRect">
            <a:avLst>
              <a:gd name="adj" fmla="val 3810"/>
            </a:avLst>
          </a:prstGeom>
          <a:solidFill>
            <a:srgbClr val="141A21"/>
          </a:solidFill>
          <a:ln/>
        </p:spPr>
      </p:sp>
      <p:sp>
        <p:nvSpPr>
          <p:cNvPr id="18" name="Shape 14"/>
          <p:cNvSpPr/>
          <p:nvPr/>
        </p:nvSpPr>
        <p:spPr>
          <a:xfrm>
            <a:off x="5806440" y="3108960"/>
            <a:ext cx="502920" cy="50292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7141" y="3229661"/>
            <a:ext cx="261518" cy="26151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66360" y="3749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166360" y="4050792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route couriers &amp; confirm handoff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7086600" y="3566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C71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7269480" y="2880360"/>
            <a:ext cx="2057400" cy="1920240"/>
          </a:xfrm>
          <a:prstGeom prst="roundRect">
            <a:avLst>
              <a:gd name="adj" fmla="val 3810"/>
            </a:avLst>
          </a:prstGeom>
          <a:solidFill>
            <a:srgbClr val="141A21"/>
          </a:solidFill>
          <a:ln/>
        </p:spPr>
      </p:sp>
      <p:sp>
        <p:nvSpPr>
          <p:cNvPr id="24" name="Shape 19"/>
          <p:cNvSpPr/>
          <p:nvPr/>
        </p:nvSpPr>
        <p:spPr>
          <a:xfrm>
            <a:off x="8046720" y="3108960"/>
            <a:ext cx="502920" cy="50292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7421" y="3229661"/>
            <a:ext cx="261518" cy="26151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06640" y="3749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406640" y="4050792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ledgers monitor transit &amp; intake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9326880" y="3566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C71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9509760" y="2880360"/>
            <a:ext cx="2057400" cy="1920240"/>
          </a:xfrm>
          <a:prstGeom prst="roundRect">
            <a:avLst>
              <a:gd name="adj" fmla="val 3810"/>
            </a:avLst>
          </a:prstGeom>
          <a:solidFill>
            <a:srgbClr val="141A21"/>
          </a:solidFill>
          <a:ln/>
        </p:spPr>
      </p:sp>
      <p:sp>
        <p:nvSpPr>
          <p:cNvPr id="30" name="Shape 24"/>
          <p:cNvSpPr/>
          <p:nvPr/>
        </p:nvSpPr>
        <p:spPr>
          <a:xfrm>
            <a:off x="10287000" y="3108960"/>
            <a:ext cx="502920" cy="50292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7701" y="3229661"/>
            <a:ext cx="261518" cy="26151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646920" y="3749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9646920" y="4050792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+ tax metrics compiled automatically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548640" y="51663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B232B"/>
          </a:solidFill>
          <a:ln/>
        </p:spPr>
      </p:sp>
      <p:sp>
        <p:nvSpPr>
          <p:cNvPr id="35" name="Text 28"/>
          <p:cNvSpPr/>
          <p:nvPr/>
        </p:nvSpPr>
        <p:spPr>
          <a:xfrm>
            <a:off x="822960" y="5166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implementation: </a:t>
            </a:r>
            <a:r>
              <a:rPr lang="en-US" sz="125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food-distribution-swarm — Streamlit + LangGraph proof of concept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Technical Pillars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built around four pillars that make autonomous redistribution possible end to end.</a:t>
            </a:r>
            <a:endParaRPr lang="en-US" sz="1350" dirty="0"/>
          </a:p>
        </p:txBody>
      </p:sp>
      <p:pic>
        <p:nvPicPr>
          <p:cNvPr id="5" name="Image 0" descr="/mnt/user-data/uploads/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65960"/>
            <a:ext cx="11064240" cy="2901809"/>
          </a:xfrm>
          <a:prstGeom prst="rect">
            <a:avLst/>
          </a:prstGeom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48640" y="5187809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0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Dual-tenant structural view for restaurants and non-profits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5571857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0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routing from live coordinate &amp; cargo data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5955905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0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swarm depth balancing thoroughness vs. cost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— Restaurants &amp; NGOs Register in Seconds</a:t>
            </a:r>
            <a:endParaRPr lang="en-US" sz="3000" dirty="0"/>
          </a:p>
        </p:txBody>
      </p:sp>
      <p:pic>
        <p:nvPicPr>
          <p:cNvPr id="4" name="Image 0" descr="/mnt/user-data/uploads/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3657600" cy="1644015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48640" y="3445383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partner registration</a:t>
            </a:r>
            <a:endParaRPr lang="en-US" sz="1100" dirty="0"/>
          </a:p>
        </p:txBody>
      </p:sp>
      <p:pic>
        <p:nvPicPr>
          <p:cNvPr id="6" name="Image 1" descr="/mnt/user-data/uploads/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691640"/>
            <a:ext cx="3657600" cy="164592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4434840" y="34472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partner registration</a:t>
            </a:r>
            <a:endParaRPr lang="en-US" sz="1100" dirty="0"/>
          </a:p>
        </p:txBody>
      </p:sp>
      <p:pic>
        <p:nvPicPr>
          <p:cNvPr id="8" name="Image 2" descr="/mnt/user-data/uploads/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1691640"/>
            <a:ext cx="3657600" cy="1624965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9" name="Text 4"/>
          <p:cNvSpPr/>
          <p:nvPr/>
        </p:nvSpPr>
        <p:spPr>
          <a:xfrm>
            <a:off x="8321040" y="3426333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sign-in for returning partners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Portals — Restaurant &amp; NGO Dashboards</a:t>
            </a:r>
            <a:endParaRPr lang="en-US" sz="3000" dirty="0"/>
          </a:p>
        </p:txBody>
      </p:sp>
      <p:pic>
        <p:nvPicPr>
          <p:cNvPr id="4" name="Image 0" descr="/mnt/user-data/uploads/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5440680" cy="2405801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48640" y="4234601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portal: surplus inventory &amp; AI demand warnings</a:t>
            </a:r>
            <a:endParaRPr lang="en-US" sz="1150" dirty="0"/>
          </a:p>
        </p:txBody>
      </p:sp>
      <p:pic>
        <p:nvPicPr>
          <p:cNvPr id="6" name="Image 1" descr="/mnt/user-data/uploads/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691640"/>
            <a:ext cx="5440680" cy="245114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6263640" y="427994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logistics portal: intake timeline &amp; active contracts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Swarm Monitor — Full Control Tower View</a:t>
            </a:r>
            <a:endParaRPr lang="en-US" sz="3000" dirty="0"/>
          </a:p>
        </p:txBody>
      </p:sp>
      <p:pic>
        <p:nvPicPr>
          <p:cNvPr id="4" name="Image 0" descr="/mnt/user-data/uploads/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11064240" cy="5065347"/>
          </a:xfrm>
          <a:prstGeom prst="rect">
            <a:avLst/>
          </a:prstGeom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48640" y="6756987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restaurant and NGO views with live ESG metrics, ledgers, and courier routing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Verifiable Ledgers &amp; Live Courier Tracking</a:t>
            </a:r>
            <a:endParaRPr lang="en-US" sz="3000" dirty="0"/>
          </a:p>
        </p:txBody>
      </p:sp>
      <p:pic>
        <p:nvPicPr>
          <p:cNvPr id="4" name="Image 0" descr="/mnt/user-data/uploads/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5440680" cy="2459641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48640" y="4288441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manifest &amp; active inbound contracts (JSON ledger)</a:t>
            </a:r>
            <a:endParaRPr lang="en-US" sz="1150" dirty="0"/>
          </a:p>
        </p:txBody>
      </p:sp>
      <p:pic>
        <p:nvPicPr>
          <p:cNvPr id="6" name="Image 1" descr="/mnt/user-data/uploads/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691640"/>
            <a:ext cx="5440680" cy="2453973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6263640" y="4282773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transit courier map with ETA &amp; distance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 &amp; Use Cases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141A21"/>
          </a:solidFill>
          <a:ln/>
        </p:spPr>
      </p:sp>
      <p:sp>
        <p:nvSpPr>
          <p:cNvPr id="5" name="Shape 3"/>
          <p:cNvSpPr/>
          <p:nvPr/>
        </p:nvSpPr>
        <p:spPr>
          <a:xfrm>
            <a:off x="1577340" y="2011680"/>
            <a:ext cx="548640" cy="54864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014" y="21433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432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&amp; Cafes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29184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daily operational waste and automate environmental compliance data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10712" y="169164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141A21"/>
          </a:solidFill>
          <a:ln/>
        </p:spPr>
      </p:sp>
      <p:sp>
        <p:nvSpPr>
          <p:cNvPr id="10" name="Shape 7"/>
          <p:cNvSpPr/>
          <p:nvPr/>
        </p:nvSpPr>
        <p:spPr>
          <a:xfrm>
            <a:off x="4439412" y="2011680"/>
            <a:ext cx="548640" cy="54864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086" y="21433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27432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Non-Profits &amp; Shelters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39312" y="329184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intake timelines to prepare warehouse capacity for inbound volume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72784" y="169164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141A21"/>
          </a:solidFill>
          <a:ln/>
        </p:spPr>
      </p:sp>
      <p:sp>
        <p:nvSpPr>
          <p:cNvPr id="15" name="Shape 11"/>
          <p:cNvSpPr/>
          <p:nvPr/>
        </p:nvSpPr>
        <p:spPr>
          <a:xfrm>
            <a:off x="7301484" y="2011680"/>
            <a:ext cx="548640" cy="54864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3158" y="21433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55664" y="27432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CSR Teams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501384" y="329184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sustainability indices for year-end corporate reporting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34856" y="169164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141A21"/>
          </a:solidFill>
          <a:ln/>
        </p:spPr>
      </p:sp>
      <p:sp>
        <p:nvSpPr>
          <p:cNvPr id="20" name="Shape 15"/>
          <p:cNvSpPr/>
          <p:nvPr/>
        </p:nvSpPr>
        <p:spPr>
          <a:xfrm>
            <a:off x="10163556" y="2011680"/>
            <a:ext cx="548640" cy="54864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5230" y="214335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17736" y="27432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Couriers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363456" y="329184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algorithmic dispatch for hyper-localized delivery tasks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This Concept Delivers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141A2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22402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from surplus registration to confirmed redistribution vs. manual coordination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10712" y="169164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141A21"/>
          </a:solidFill>
          <a:ln/>
        </p:spPr>
      </p:sp>
      <p:sp>
        <p:nvSpPr>
          <p:cNvPr id="8" name="Text 6"/>
          <p:cNvSpPr/>
          <p:nvPr/>
        </p:nvSpPr>
        <p:spPr>
          <a:xfrm>
            <a:off x="3593592" y="2011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593592" y="2743200"/>
            <a:ext cx="22402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tracking, independent of individual operator skill or bandwidth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2784" y="169164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141A21"/>
          </a:solidFill>
          <a:ln/>
        </p:spPr>
      </p:sp>
      <p:sp>
        <p:nvSpPr>
          <p:cNvPr id="11" name="Text 9"/>
          <p:cNvSpPr/>
          <p:nvPr/>
        </p:nvSpPr>
        <p:spPr>
          <a:xfrm>
            <a:off x="6455664" y="2011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55664" y="2743200"/>
            <a:ext cx="22402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data builds corporate and NGO trust versus opaque manual reporting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34856" y="169164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141A21"/>
          </a:solidFill>
          <a:ln/>
        </p:spPr>
      </p:sp>
      <p:sp>
        <p:nvSpPr>
          <p:cNvPr id="14" name="Text 12"/>
          <p:cNvSpPr/>
          <p:nvPr/>
        </p:nvSpPr>
        <p:spPr>
          <a:xfrm>
            <a:off x="9317736" y="2011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317736" y="2743200"/>
            <a:ext cx="22402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extendable from storefront hubs to dense metropolitan clusters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CONSIDERATIONS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Plan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41A2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FF5A5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0756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37360"/>
            <a:ext cx="9875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accuracy depends directly on the quality of data entered by individual restaurant operators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41A21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3108960"/>
            <a:ext cx="457200" cy="457200"/>
          </a:xfrm>
          <a:prstGeom prst="ellipse">
            <a:avLst/>
          </a:prstGeom>
          <a:solidFill>
            <a:srgbClr val="FF5A5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2186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880360"/>
            <a:ext cx="9875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traffic conditions and shifting physical parameters may create gaps between simulated ETAs and real courier times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41A21"/>
          </a:solidFill>
          <a:ln/>
        </p:spPr>
      </p:sp>
      <p:sp>
        <p:nvSpPr>
          <p:cNvPr id="13" name="Shape 9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F5A57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36168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4023360"/>
            <a:ext cx="9875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reasoning iterations require ongoing API calls, so computation depth must balance thoroughness against cost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41A21"/>
          </a:solidFill>
          <a:ln/>
        </p:spPr>
      </p:sp>
      <p:sp>
        <p:nvSpPr>
          <p:cNvPr id="17" name="Shape 12"/>
          <p:cNvSpPr/>
          <p:nvPr/>
        </p:nvSpPr>
        <p:spPr>
          <a:xfrm>
            <a:off x="777240" y="5394960"/>
            <a:ext cx="457200" cy="457200"/>
          </a:xfrm>
          <a:prstGeom prst="ellipse">
            <a:avLst/>
          </a:prstGeom>
          <a:solidFill>
            <a:srgbClr val="FF5A57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50468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5166360"/>
            <a:ext cx="9875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or high-stakes redistribution decisions warrant additional human review safeguards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Concept Can Grow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84832" cy="2834640"/>
          </a:xfrm>
          <a:prstGeom prst="roundRect">
            <a:avLst>
              <a:gd name="adj" fmla="val 3947"/>
            </a:avLst>
          </a:prstGeom>
          <a:solidFill>
            <a:srgbClr val="141A21"/>
          </a:solidFill>
          <a:ln/>
        </p:spPr>
      </p:sp>
      <p:sp>
        <p:nvSpPr>
          <p:cNvPr id="5" name="Shape 3"/>
          <p:cNvSpPr/>
          <p:nvPr/>
        </p:nvSpPr>
        <p:spPr>
          <a:xfrm>
            <a:off x="1362456" y="2011680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184" y="212140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60604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deficit forecasting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3232" y="3246120"/>
            <a:ext cx="17556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storefronts of demand drops using external datasets before waste occurs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834640" y="1737360"/>
            <a:ext cx="2084832" cy="2834640"/>
          </a:xfrm>
          <a:prstGeom prst="roundRect">
            <a:avLst>
              <a:gd name="adj" fmla="val 3947"/>
            </a:avLst>
          </a:prstGeom>
          <a:solidFill>
            <a:srgbClr val="141A21"/>
          </a:solidFill>
          <a:ln/>
        </p:spPr>
      </p:sp>
      <p:sp>
        <p:nvSpPr>
          <p:cNvPr id="10" name="Shape 7"/>
          <p:cNvSpPr/>
          <p:nvPr/>
        </p:nvSpPr>
        <p:spPr>
          <a:xfrm>
            <a:off x="3648456" y="2011680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84" y="212140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71800" y="260604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cold-chain tracking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999232" y="3246120"/>
            <a:ext cx="17556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integration to track ambient temperature of perishables during transit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120640" y="1737360"/>
            <a:ext cx="2084832" cy="2834640"/>
          </a:xfrm>
          <a:prstGeom prst="roundRect">
            <a:avLst>
              <a:gd name="adj" fmla="val 3947"/>
            </a:avLst>
          </a:prstGeom>
          <a:solidFill>
            <a:srgbClr val="141A21"/>
          </a:solidFill>
          <a:ln/>
        </p:spPr>
      </p:sp>
      <p:sp>
        <p:nvSpPr>
          <p:cNvPr id="15" name="Shape 11"/>
          <p:cNvSpPr/>
          <p:nvPr/>
        </p:nvSpPr>
        <p:spPr>
          <a:xfrm>
            <a:off x="5934456" y="2011680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4184" y="212140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57800" y="260604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Multi-carrier route stacking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285232" y="3246120"/>
            <a:ext cx="17556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fragmented drops from multiple vendors into one optimized courier run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7406640" y="1737360"/>
            <a:ext cx="2084832" cy="2834640"/>
          </a:xfrm>
          <a:prstGeom prst="roundRect">
            <a:avLst>
              <a:gd name="adj" fmla="val 3947"/>
            </a:avLst>
          </a:prstGeom>
          <a:solidFill>
            <a:srgbClr val="141A21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0456" y="2011680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0184" y="212140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0" y="260604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integration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571232" y="3246120"/>
            <a:ext cx="17556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localized waste tracking directly to official tax write-off platforms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9692640" y="1737360"/>
            <a:ext cx="2084832" cy="2834640"/>
          </a:xfrm>
          <a:prstGeom prst="roundRect">
            <a:avLst>
              <a:gd name="adj" fmla="val 3947"/>
            </a:avLst>
          </a:prstGeom>
          <a:solidFill>
            <a:srgbClr val="141A21"/>
          </a:solidFill>
          <a:ln/>
        </p:spPr>
      </p:sp>
      <p:sp>
        <p:nvSpPr>
          <p:cNvPr id="25" name="Shape 19"/>
          <p:cNvSpPr/>
          <p:nvPr/>
        </p:nvSpPr>
        <p:spPr>
          <a:xfrm>
            <a:off x="10506456" y="2011680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6184" y="2121408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29800" y="260604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tuning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9857232" y="3246120"/>
            <a:ext cx="17556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Configurations tailored to grocery, hospitality, and institutional catering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2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Localized retail surplus, matched and routed autonomously — delivered as verifiable, ESG-ready redistribution contracts.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3520440"/>
            <a:ext cx="6766560" cy="1691640"/>
          </a:xfrm>
          <a:prstGeom prst="roundRect">
            <a:avLst>
              <a:gd name="adj" fmla="val 5405"/>
            </a:avLst>
          </a:prstGeom>
          <a:solidFill>
            <a:srgbClr val="141A2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7033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Access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 </a:t>
            </a:r>
            <a:r>
              <a:rPr lang="en-US" sz="1350" i="1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https://github.com/HarshaliAlave/food-distribution-swarm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</a:t>
            </a:r>
            <a:r>
              <a:rPr lang="en-US" sz="1350" i="1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https://ecofeast.streamlit.app/</a:t>
            </a:r>
            <a:endParaRPr lang="en-US" sz="1350" dirty="0"/>
          </a:p>
        </p:txBody>
      </p:sp>
      <p:pic>
        <p:nvPicPr>
          <p:cNvPr id="8" name="Image 0" descr="/mnt/user-data/uploads/Screenshot_2026-07-07_1516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2489378"/>
            <a:ext cx="4206240" cy="1879243"/>
          </a:xfrm>
          <a:prstGeom prst="rect">
            <a:avLst/>
          </a:prstGeom>
          <a:effectLst>
            <a:outerShdw blurRad="177800" dist="50800" dir="5400000" algn="bl" rotWithShape="0">
              <a:srgbClr val="000000">
                <a:alpha val="40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907</Words>
  <Application>Microsoft Office PowerPoint</Application>
  <PresentationFormat>Widescreen</PresentationFormat>
  <Paragraphs>152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EcoFeast AI Control Tower - Concept Note</dc:title>
  <dc:subject>PptxGenJS Presentation</dc:subject>
  <dc:creator>Harshali</dc:creator>
  <cp:lastModifiedBy>HARSHALI ALAVE</cp:lastModifiedBy>
  <cp:revision>2</cp:revision>
  <dcterms:created xsi:type="dcterms:W3CDTF">2026-07-07T10:08:00Z</dcterms:created>
  <dcterms:modified xsi:type="dcterms:W3CDTF">2026-07-07T11:44:47Z</dcterms:modified>
</cp:coreProperties>
</file>